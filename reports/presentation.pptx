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ns Light" charset="1" panose="020B0306030504020204"/>
      <p:regular r:id="rId19"/>
    </p:embeddedFont>
    <p:embeddedFont>
      <p:font typeface="Anton" charset="1" panose="00000500000000000000"/>
      <p:regular r:id="rId20"/>
    </p:embeddedFont>
    <p:embeddedFont>
      <p:font typeface="Open Sans" charset="1" panose="020B0606030504020204"/>
      <p:regular r:id="rId21"/>
    </p:embeddedFont>
    <p:embeddedFont>
      <p:font typeface="Open Sans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3106" y="2500375"/>
            <a:ext cx="434178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PRÉSENTATION</a:t>
            </a:r>
            <a:r>
              <a:rPr lang="en-US" sz="28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84019" y="3240895"/>
            <a:ext cx="9519961" cy="431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sz="8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ANALYSE &amp; OPTIMISATION  SITE E-COMMERCE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62797" y="8383698"/>
            <a:ext cx="435209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SAMIR NZAMBA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2981705"/>
            <a:ext cx="4815302" cy="4323590"/>
            <a:chOff x="0" y="0"/>
            <a:chExt cx="1268228" cy="11387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8228" cy="1138723"/>
            </a:xfrm>
            <a:custGeom>
              <a:avLst/>
              <a:gdLst/>
              <a:ahLst/>
              <a:cxnLst/>
              <a:rect r="r" b="b" t="t" l="l"/>
              <a:pathLst>
                <a:path h="1138723" w="1268228">
                  <a:moveTo>
                    <a:pt x="0" y="0"/>
                  </a:moveTo>
                  <a:lnTo>
                    <a:pt x="1268228" y="0"/>
                  </a:lnTo>
                  <a:lnTo>
                    <a:pt x="1268228" y="1138723"/>
                  </a:lnTo>
                  <a:lnTo>
                    <a:pt x="0" y="1138723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68228" cy="1176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72698" y="2981705"/>
            <a:ext cx="4815302" cy="4323590"/>
            <a:chOff x="0" y="0"/>
            <a:chExt cx="1268228" cy="11387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8228" cy="1138723"/>
            </a:xfrm>
            <a:custGeom>
              <a:avLst/>
              <a:gdLst/>
              <a:ahLst/>
              <a:cxnLst/>
              <a:rect r="r" b="b" t="t" l="l"/>
              <a:pathLst>
                <a:path h="1138723" w="1268228">
                  <a:moveTo>
                    <a:pt x="0" y="0"/>
                  </a:moveTo>
                  <a:lnTo>
                    <a:pt x="1268228" y="0"/>
                  </a:lnTo>
                  <a:lnTo>
                    <a:pt x="1268228" y="1138723"/>
                  </a:lnTo>
                  <a:lnTo>
                    <a:pt x="0" y="1138723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68228" cy="1176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7746" y="0"/>
            <a:ext cx="8640254" cy="9575526"/>
            <a:chOff x="0" y="0"/>
            <a:chExt cx="2275623" cy="2521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521949"/>
            </a:xfrm>
            <a:custGeom>
              <a:avLst/>
              <a:gdLst/>
              <a:ahLst/>
              <a:cxnLst/>
              <a:rect r="r" b="b" t="t" l="l"/>
              <a:pathLst>
                <a:path h="2521949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521949"/>
                  </a:lnTo>
                  <a:lnTo>
                    <a:pt x="0" y="2521949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560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12256" y="942975"/>
            <a:ext cx="5941966" cy="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1"/>
              </a:lnSpc>
            </a:pPr>
            <a:r>
              <a:rPr lang="en-US" sz="468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9618" y="2587756"/>
            <a:ext cx="7894604" cy="655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Contexte &amp; Objectifs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Données Analysées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KPIs &amp; Performance Globale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Analyse Temporelle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Performance Produits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Segmentation Utilisateurs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Tests A/B &amp; Impact Business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Recommandations Stratégiques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 &amp; Perspectives</a:t>
            </a:r>
          </a:p>
          <a:p>
            <a:pPr algn="l">
              <a:lnSpc>
                <a:spcPts val="518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8863" y="-72827"/>
            <a:ext cx="8640254" cy="10882580"/>
            <a:chOff x="0" y="0"/>
            <a:chExt cx="2275623" cy="28661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866194"/>
            </a:xfrm>
            <a:custGeom>
              <a:avLst/>
              <a:gdLst/>
              <a:ahLst/>
              <a:cxnLst/>
              <a:rect r="r" b="b" t="t" l="l"/>
              <a:pathLst>
                <a:path h="2866194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866194"/>
                  </a:lnTo>
                  <a:lnTo>
                    <a:pt x="0" y="2866194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904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259239" y="1573372"/>
            <a:ext cx="1740795" cy="0"/>
          </a:xfrm>
          <a:prstGeom prst="line">
            <a:avLst/>
          </a:prstGeom>
          <a:ln cap="flat" w="38100">
            <a:solidFill>
              <a:srgbClr val="7A92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0" y="3241579"/>
            <a:ext cx="7985483" cy="5299457"/>
          </a:xfrm>
          <a:custGeom>
            <a:avLst/>
            <a:gdLst/>
            <a:ahLst/>
            <a:cxnLst/>
            <a:rect r="r" b="b" t="t" l="l"/>
            <a:pathLst>
              <a:path h="5299457" w="7985483">
                <a:moveTo>
                  <a:pt x="0" y="0"/>
                </a:moveTo>
                <a:lnTo>
                  <a:pt x="7985483" y="0"/>
                </a:lnTo>
                <a:lnTo>
                  <a:pt x="7985483" y="5299457"/>
                </a:lnTo>
                <a:lnTo>
                  <a:pt x="0" y="529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06436" y="659130"/>
            <a:ext cx="74528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CONTEXTE &amp; OBJECTIFS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71033" y="3155854"/>
            <a:ext cx="9495367" cy="624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1"/>
              </a:lnSpc>
            </a:pPr>
            <a:r>
              <a:rPr lang="en-US" sz="4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: Ret</a:t>
            </a:r>
            <a:r>
              <a:rPr lang="en-US" sz="4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ail Rocket E-commerce (Kaggle)</a:t>
            </a:r>
          </a:p>
          <a:p>
            <a:pPr algn="l">
              <a:lnSpc>
                <a:spcPts val="6171"/>
              </a:lnSpc>
            </a:pPr>
            <a:r>
              <a:rPr lang="en-US" sz="4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Période : 137 jours (mai-sept 2015) Objectifs :</a:t>
            </a:r>
          </a:p>
          <a:p>
            <a:pPr algn="l" marL="951776" indent="-475888" lvl="1">
              <a:lnSpc>
                <a:spcPts val="6171"/>
              </a:lnSpc>
              <a:buFont typeface="Arial"/>
              <a:buChar char="•"/>
            </a:pPr>
            <a:r>
              <a:rPr lang="en-US" sz="4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Analyser 1,4M visiteurs</a:t>
            </a:r>
          </a:p>
          <a:p>
            <a:pPr algn="l" marL="951776" indent="-475888" lvl="1">
              <a:lnSpc>
                <a:spcPts val="6171"/>
              </a:lnSpc>
              <a:buFont typeface="Arial"/>
              <a:buChar char="•"/>
            </a:pPr>
            <a:r>
              <a:rPr lang="en-US" sz="4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Identifier points de</a:t>
            </a:r>
            <a:r>
              <a:rPr lang="en-US" sz="4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friction</a:t>
            </a:r>
          </a:p>
          <a:p>
            <a:pPr algn="l" marL="951776" indent="-475888" lvl="1">
              <a:lnSpc>
                <a:spcPts val="6171"/>
              </a:lnSpc>
              <a:buFont typeface="Arial"/>
              <a:buChar char="•"/>
            </a:pPr>
            <a:r>
              <a:rPr lang="en-US" sz="4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Valider solutions par A/B testing</a:t>
            </a:r>
          </a:p>
          <a:p>
            <a:pPr algn="l">
              <a:lnSpc>
                <a:spcPts val="617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8863" y="-72827"/>
            <a:ext cx="8640254" cy="10882580"/>
            <a:chOff x="0" y="0"/>
            <a:chExt cx="2275623" cy="28661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866194"/>
            </a:xfrm>
            <a:custGeom>
              <a:avLst/>
              <a:gdLst/>
              <a:ahLst/>
              <a:cxnLst/>
              <a:rect r="r" b="b" t="t" l="l"/>
              <a:pathLst>
                <a:path h="2866194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866194"/>
                  </a:lnTo>
                  <a:lnTo>
                    <a:pt x="0" y="2866194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904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259239" y="1573372"/>
            <a:ext cx="1740795" cy="0"/>
          </a:xfrm>
          <a:prstGeom prst="line">
            <a:avLst/>
          </a:prstGeom>
          <a:ln cap="flat" w="38100">
            <a:solidFill>
              <a:srgbClr val="7A92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60623" y="1821022"/>
            <a:ext cx="11223464" cy="5419109"/>
          </a:xfrm>
          <a:custGeom>
            <a:avLst/>
            <a:gdLst/>
            <a:ahLst/>
            <a:cxnLst/>
            <a:rect r="r" b="b" t="t" l="l"/>
            <a:pathLst>
              <a:path h="5419109" w="11223464">
                <a:moveTo>
                  <a:pt x="0" y="0"/>
                </a:moveTo>
                <a:lnTo>
                  <a:pt x="11223464" y="0"/>
                </a:lnTo>
                <a:lnTo>
                  <a:pt x="11223464" y="5419108"/>
                </a:lnTo>
                <a:lnTo>
                  <a:pt x="0" y="541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77" r="0" b="-177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72355" y="7468730"/>
            <a:ext cx="9976637" cy="2551570"/>
          </a:xfrm>
          <a:custGeom>
            <a:avLst/>
            <a:gdLst/>
            <a:ahLst/>
            <a:cxnLst/>
            <a:rect r="r" b="b" t="t" l="l"/>
            <a:pathLst>
              <a:path h="2551570" w="9976637">
                <a:moveTo>
                  <a:pt x="0" y="0"/>
                </a:moveTo>
                <a:lnTo>
                  <a:pt x="9976637" y="0"/>
                </a:lnTo>
                <a:lnTo>
                  <a:pt x="9976637" y="2551570"/>
                </a:lnTo>
                <a:lnTo>
                  <a:pt x="0" y="2551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06436" y="659130"/>
            <a:ext cx="74528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DONNÉES ANALYSÉES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8863" y="-72827"/>
            <a:ext cx="8640254" cy="10882580"/>
            <a:chOff x="0" y="0"/>
            <a:chExt cx="2275623" cy="28661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866194"/>
            </a:xfrm>
            <a:custGeom>
              <a:avLst/>
              <a:gdLst/>
              <a:ahLst/>
              <a:cxnLst/>
              <a:rect r="r" b="b" t="t" l="l"/>
              <a:pathLst>
                <a:path h="2866194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866194"/>
                  </a:lnTo>
                  <a:lnTo>
                    <a:pt x="0" y="2866194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904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259239" y="1573372"/>
            <a:ext cx="1740795" cy="0"/>
          </a:xfrm>
          <a:prstGeom prst="line">
            <a:avLst/>
          </a:prstGeom>
          <a:ln cap="flat" w="38100">
            <a:solidFill>
              <a:srgbClr val="7A92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35344" y="1573372"/>
            <a:ext cx="13628502" cy="8108958"/>
          </a:xfrm>
          <a:custGeom>
            <a:avLst/>
            <a:gdLst/>
            <a:ahLst/>
            <a:cxnLst/>
            <a:rect r="r" b="b" t="t" l="l"/>
            <a:pathLst>
              <a:path h="8108958" w="13628502">
                <a:moveTo>
                  <a:pt x="0" y="0"/>
                </a:moveTo>
                <a:lnTo>
                  <a:pt x="13628502" y="0"/>
                </a:lnTo>
                <a:lnTo>
                  <a:pt x="13628502" y="8108958"/>
                </a:lnTo>
                <a:lnTo>
                  <a:pt x="0" y="810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06436" y="659130"/>
            <a:ext cx="74528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KPIs &amp; PERFORMANCE GLOBALE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32868" y="4585888"/>
            <a:ext cx="4424154" cy="215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51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Les 3 KPIs critiques :</a:t>
            </a:r>
          </a:p>
          <a:p>
            <a:pPr algn="l">
              <a:lnSpc>
                <a:spcPts val="2121"/>
              </a:lnSpc>
            </a:pPr>
            <a:r>
              <a:rPr lang="en-US" sz="151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✅ 0,84% Conversion globale 🟢 Normal (benchmark 1-3%)</a:t>
            </a:r>
          </a:p>
          <a:p>
            <a:pPr algn="l">
              <a:lnSpc>
                <a:spcPts val="2121"/>
              </a:lnSpc>
            </a:pPr>
            <a:r>
              <a:rPr lang="en-US" sz="151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⚠️ 67,61% Abandon panier 🟠 Élevé (objectif &lt;60%)</a:t>
            </a:r>
          </a:p>
          <a:p>
            <a:pPr algn="l">
              <a:lnSpc>
                <a:spcPts val="2121"/>
              </a:lnSpc>
            </a:pPr>
            <a:r>
              <a:rPr lang="en-US" sz="151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🔴 97,3% Visiteurs passifs 🔴 Énorme opportunité</a:t>
            </a:r>
          </a:p>
          <a:p>
            <a:pPr algn="l">
              <a:lnSpc>
                <a:spcPts val="2121"/>
              </a:lnSpc>
            </a:pPr>
            <a:r>
              <a:rPr lang="en-US" sz="151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Le funnel de conversion : 2 664 312 vues → 69 332 paniers → 22 457 achats</a:t>
            </a:r>
          </a:p>
          <a:p>
            <a:pPr algn="l">
              <a:lnSpc>
                <a:spcPts val="212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89522"/>
            <a:ext cx="8640254" cy="9575526"/>
            <a:chOff x="0" y="0"/>
            <a:chExt cx="2275623" cy="2521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521949"/>
            </a:xfrm>
            <a:custGeom>
              <a:avLst/>
              <a:gdLst/>
              <a:ahLst/>
              <a:cxnLst/>
              <a:rect r="r" b="b" t="t" l="l"/>
              <a:pathLst>
                <a:path h="2521949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521949"/>
                  </a:lnTo>
                  <a:lnTo>
                    <a:pt x="0" y="2521949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560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2866" y="1199029"/>
            <a:ext cx="14054776" cy="9087971"/>
          </a:xfrm>
          <a:custGeom>
            <a:avLst/>
            <a:gdLst/>
            <a:ahLst/>
            <a:cxnLst/>
            <a:rect r="r" b="b" t="t" l="l"/>
            <a:pathLst>
              <a:path h="9087971" w="14054776">
                <a:moveTo>
                  <a:pt x="0" y="0"/>
                </a:moveTo>
                <a:lnTo>
                  <a:pt x="14054777" y="0"/>
                </a:lnTo>
                <a:lnTo>
                  <a:pt x="14054777" y="9087971"/>
                </a:lnTo>
                <a:lnTo>
                  <a:pt x="0" y="9087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88" r="0" b="-238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51010" y="251667"/>
            <a:ext cx="7923579" cy="55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0"/>
              </a:lnSpc>
            </a:pPr>
            <a:r>
              <a:rPr lang="en-US" sz="33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ANALYSE</a:t>
            </a:r>
            <a:r>
              <a:rPr lang="en-US" sz="33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TEMPORELLE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21398" y="1909732"/>
            <a:ext cx="7345079" cy="1482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17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Profil horaire :</a:t>
            </a:r>
          </a:p>
          <a:p>
            <a:pPr algn="just">
              <a:lnSpc>
                <a:spcPts val="2400"/>
              </a:lnSpc>
            </a:pPr>
            <a:r>
              <a:rPr lang="en-US" sz="17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Pic : 17h-21h 9 000 événements/h → Concentrer campagnes marketing</a:t>
            </a:r>
          </a:p>
          <a:p>
            <a:pPr algn="just">
              <a:lnSpc>
                <a:spcPts val="2400"/>
              </a:lnSpc>
            </a:pPr>
            <a:r>
              <a:rPr lang="en-US" sz="17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Creux : 9h-11h 3 000 événements/h → Maintenance technique</a:t>
            </a:r>
          </a:p>
          <a:p>
            <a:pPr algn="just">
              <a:lnSpc>
                <a:spcPts val="2400"/>
              </a:lnSpc>
            </a:pPr>
            <a:r>
              <a:rPr lang="en-US" sz="17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Insight clé : Stabilité sur 137 jours, pas de saisonnalité</a:t>
            </a:r>
          </a:p>
          <a:p>
            <a:pPr algn="just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89522"/>
            <a:ext cx="8640254" cy="9575526"/>
            <a:chOff x="0" y="0"/>
            <a:chExt cx="2275623" cy="2521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521949"/>
            </a:xfrm>
            <a:custGeom>
              <a:avLst/>
              <a:gdLst/>
              <a:ahLst/>
              <a:cxnLst/>
              <a:rect r="r" b="b" t="t" l="l"/>
              <a:pathLst>
                <a:path h="2521949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521949"/>
                  </a:lnTo>
                  <a:lnTo>
                    <a:pt x="0" y="2521949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560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759" y="2889522"/>
            <a:ext cx="18062482" cy="6627158"/>
          </a:xfrm>
          <a:custGeom>
            <a:avLst/>
            <a:gdLst/>
            <a:ahLst/>
            <a:cxnLst/>
            <a:rect r="r" b="b" t="t" l="l"/>
            <a:pathLst>
              <a:path h="6627158" w="18062482">
                <a:moveTo>
                  <a:pt x="0" y="0"/>
                </a:moveTo>
                <a:lnTo>
                  <a:pt x="18062482" y="0"/>
                </a:lnTo>
                <a:lnTo>
                  <a:pt x="18062482" y="6627157"/>
                </a:lnTo>
                <a:lnTo>
                  <a:pt x="0" y="6627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7" t="-990" r="0" b="-99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79987" y="729053"/>
            <a:ext cx="7923579" cy="55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0"/>
              </a:lnSpc>
            </a:pPr>
            <a:r>
              <a:rPr lang="en-US" sz="33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PERF</a:t>
            </a:r>
            <a:r>
              <a:rPr lang="en-US" sz="33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ormance des Produits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9945" y="6059513"/>
            <a:ext cx="4668055" cy="247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3"/>
              </a:lnSpc>
            </a:pPr>
            <a:r>
              <a:rPr lang="en-US" sz="156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Concentration des ventes :</a:t>
            </a:r>
          </a:p>
          <a:p>
            <a:pPr algn="just" marL="338334" indent="-169167" lvl="1">
              <a:lnSpc>
                <a:spcPts val="2193"/>
              </a:lnSpc>
              <a:buFont typeface="Arial"/>
              <a:buChar char="•"/>
            </a:pPr>
            <a:r>
              <a:rPr lang="en-US" b="true" sz="1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10 produits = 15% des ventes</a:t>
            </a:r>
          </a:p>
          <a:p>
            <a:pPr algn="just" marL="338334" indent="-169167" lvl="1">
              <a:lnSpc>
                <a:spcPts val="2193"/>
              </a:lnSpc>
              <a:buFont typeface="Arial"/>
              <a:buChar char="•"/>
            </a:pPr>
            <a:r>
              <a:rPr lang="en-US" b="true" sz="1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100 produits = 40% du CA</a:t>
            </a:r>
          </a:p>
          <a:p>
            <a:pPr algn="just" marL="338334" indent="-169167" lvl="1">
              <a:lnSpc>
                <a:spcPts val="2193"/>
              </a:lnSpc>
              <a:buFont typeface="Arial"/>
              <a:buChar char="•"/>
            </a:pPr>
            <a:r>
              <a:rPr lang="en-US" b="true" sz="1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65% du catalogue = 0 vente</a:t>
            </a:r>
          </a:p>
          <a:p>
            <a:pPr algn="just">
              <a:lnSpc>
                <a:spcPts val="2193"/>
              </a:lnSpc>
            </a:pPr>
            <a:r>
              <a:rPr lang="en-US" sz="156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67 PRODUITS À FORT POTENTIEL :</a:t>
            </a:r>
          </a:p>
          <a:p>
            <a:pPr algn="just" marL="338334" indent="-169167" lvl="1">
              <a:lnSpc>
                <a:spcPts val="2193"/>
              </a:lnSpc>
              <a:buFont typeface="Arial"/>
              <a:buChar char="•"/>
            </a:pPr>
            <a:r>
              <a:rPr lang="en-US" b="true" sz="1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Forte visibilité (&gt;1000 vues)</a:t>
            </a:r>
          </a:p>
          <a:p>
            <a:pPr algn="just" marL="338334" indent="-169167" lvl="1">
              <a:lnSpc>
                <a:spcPts val="2193"/>
              </a:lnSpc>
              <a:buFont typeface="Arial"/>
              <a:buChar char="•"/>
            </a:pPr>
            <a:r>
              <a:rPr lang="en-US" b="true" sz="1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Faible conversion (&lt;1%)</a:t>
            </a:r>
          </a:p>
          <a:p>
            <a:pPr algn="just" marL="338334" indent="-169167" lvl="1">
              <a:lnSpc>
                <a:spcPts val="2193"/>
              </a:lnSpc>
              <a:buFont typeface="Arial"/>
              <a:buChar char="•"/>
            </a:pPr>
            <a:r>
              <a:rPr lang="en-US" b="true" sz="15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Potentiel : +75 000€ si optimisés</a:t>
            </a:r>
          </a:p>
          <a:p>
            <a:pPr algn="just">
              <a:lnSpc>
                <a:spcPts val="219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3266" y="1478785"/>
            <a:ext cx="16995780" cy="7329430"/>
          </a:xfrm>
          <a:custGeom>
            <a:avLst/>
            <a:gdLst/>
            <a:ahLst/>
            <a:cxnLst/>
            <a:rect r="r" b="b" t="t" l="l"/>
            <a:pathLst>
              <a:path h="7329430" w="16995780">
                <a:moveTo>
                  <a:pt x="0" y="0"/>
                </a:moveTo>
                <a:lnTo>
                  <a:pt x="16995779" y="0"/>
                </a:lnTo>
                <a:lnTo>
                  <a:pt x="16995779" y="7329430"/>
                </a:lnTo>
                <a:lnTo>
                  <a:pt x="0" y="7329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2446" y="365760"/>
            <a:ext cx="1319645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SEGMENT</a:t>
            </a: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ATION UTILISATEURS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99611" y="7289761"/>
            <a:ext cx="4824745" cy="196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47"/>
              </a:lnSpc>
            </a:pPr>
            <a:r>
              <a:rPr lang="en-US" sz="124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- 3 segments identifiés :</a:t>
            </a:r>
          </a:p>
          <a:p>
            <a:pPr algn="just">
              <a:lnSpc>
                <a:spcPts val="1747"/>
              </a:lnSpc>
            </a:pPr>
            <a:r>
              <a:rPr lang="en-US" sz="124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- Acheteurs (0,8%) : très engagés, 15+ vues/session</a:t>
            </a:r>
          </a:p>
          <a:p>
            <a:pPr algn="just">
              <a:lnSpc>
                <a:spcPts val="1747"/>
              </a:lnSpc>
            </a:pPr>
            <a:r>
              <a:rPr lang="en-US" sz="124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- Panier abandonné (1,9%) : intéressés mais n'achètent pas</a:t>
            </a:r>
          </a:p>
          <a:p>
            <a:pPr algn="just">
              <a:lnSpc>
                <a:spcPts val="1747"/>
              </a:lnSpc>
            </a:pPr>
            <a:r>
              <a:rPr lang="en-US" sz="124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- Passifs (97,3%) : peu d'interactions</a:t>
            </a:r>
          </a:p>
          <a:p>
            <a:pPr algn="just">
              <a:lnSpc>
                <a:spcPts val="1747"/>
              </a:lnSpc>
            </a:pPr>
          </a:p>
          <a:p>
            <a:pPr algn="just">
              <a:lnSpc>
                <a:spcPts val="1747"/>
              </a:lnSpc>
            </a:pPr>
            <a:r>
              <a:rPr lang="en-US" sz="124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 Actions ciblées par segment :</a:t>
            </a:r>
          </a:p>
          <a:p>
            <a:pPr algn="just">
              <a:lnSpc>
                <a:spcPts val="1747"/>
              </a:lnSpc>
            </a:pPr>
            <a:r>
              <a:rPr lang="en-US" sz="124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- Acheteurs → Programme fidélité</a:t>
            </a:r>
          </a:p>
          <a:p>
            <a:pPr algn="just">
              <a:lnSpc>
                <a:spcPts val="1747"/>
              </a:lnSpc>
            </a:pPr>
            <a:r>
              <a:rPr lang="en-US" sz="124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- Panier abandonné → Emails de rappel</a:t>
            </a:r>
          </a:p>
          <a:p>
            <a:pPr algn="just">
              <a:lnSpc>
                <a:spcPts val="1747"/>
              </a:lnSpc>
            </a:pPr>
            <a:r>
              <a:rPr lang="en-US" sz="124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- Passifs → Pop-ups + offres promo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646" y="1577950"/>
            <a:ext cx="18004707" cy="4928789"/>
          </a:xfrm>
          <a:custGeom>
            <a:avLst/>
            <a:gdLst/>
            <a:ahLst/>
            <a:cxnLst/>
            <a:rect r="r" b="b" t="t" l="l"/>
            <a:pathLst>
              <a:path h="4928789" w="18004707">
                <a:moveTo>
                  <a:pt x="0" y="0"/>
                </a:moveTo>
                <a:lnTo>
                  <a:pt x="18004708" y="0"/>
                </a:lnTo>
                <a:lnTo>
                  <a:pt x="18004708" y="4928789"/>
                </a:lnTo>
                <a:lnTo>
                  <a:pt x="0" y="4928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878828"/>
            <a:ext cx="16644174" cy="2175769"/>
          </a:xfrm>
          <a:custGeom>
            <a:avLst/>
            <a:gdLst/>
            <a:ahLst/>
            <a:cxnLst/>
            <a:rect r="r" b="b" t="t" l="l"/>
            <a:pathLst>
              <a:path h="2175769" w="16644174">
                <a:moveTo>
                  <a:pt x="0" y="0"/>
                </a:moveTo>
                <a:lnTo>
                  <a:pt x="16644174" y="0"/>
                </a:lnTo>
                <a:lnTo>
                  <a:pt x="16644174" y="2175769"/>
                </a:lnTo>
                <a:lnTo>
                  <a:pt x="0" y="2175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02446" y="365760"/>
            <a:ext cx="1319645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A/B Tests Réalisés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07807" y="-7471697"/>
            <a:ext cx="3308496" cy="18251890"/>
            <a:chOff x="0" y="0"/>
            <a:chExt cx="871373" cy="480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1373" cy="4807082"/>
            </a:xfrm>
            <a:custGeom>
              <a:avLst/>
              <a:gdLst/>
              <a:ahLst/>
              <a:cxnLst/>
              <a:rect r="r" b="b" t="t" l="l"/>
              <a:pathLst>
                <a:path h="4807082" w="871373">
                  <a:moveTo>
                    <a:pt x="0" y="0"/>
                  </a:moveTo>
                  <a:lnTo>
                    <a:pt x="871373" y="0"/>
                  </a:lnTo>
                  <a:lnTo>
                    <a:pt x="871373" y="4807082"/>
                  </a:lnTo>
                  <a:lnTo>
                    <a:pt x="0" y="4807082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1373" cy="484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44806" y="4329226"/>
            <a:ext cx="14311732" cy="463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52"/>
              </a:lnSpc>
            </a:pPr>
            <a:r>
              <a:rPr lang="en-US" sz="439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93 888€ : Impact 137 jours</a:t>
            </a:r>
          </a:p>
          <a:p>
            <a:pPr algn="just">
              <a:lnSpc>
                <a:spcPts val="6152"/>
              </a:lnSpc>
            </a:pPr>
            <a:r>
              <a:rPr lang="en-US" sz="439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250 000€ : Projection annuelle</a:t>
            </a:r>
          </a:p>
          <a:p>
            <a:pPr algn="just">
              <a:lnSpc>
                <a:spcPts val="6152"/>
              </a:lnSpc>
            </a:pPr>
            <a:r>
              <a:rPr lang="en-US" sz="439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22 000€ : Investissement total</a:t>
            </a:r>
          </a:p>
          <a:p>
            <a:pPr algn="just">
              <a:lnSpc>
                <a:spcPts val="6152"/>
              </a:lnSpc>
            </a:pPr>
            <a:r>
              <a:rPr lang="en-US" sz="439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327% ROI : Année 1</a:t>
            </a:r>
          </a:p>
          <a:p>
            <a:pPr algn="just">
              <a:lnSpc>
                <a:spcPts val="6152"/>
              </a:lnSpc>
            </a:pPr>
            <a:r>
              <a:rPr lang="en-US" sz="439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Années suivantes : ROI &gt; 1000%</a:t>
            </a:r>
          </a:p>
          <a:p>
            <a:pPr algn="just">
              <a:lnSpc>
                <a:spcPts val="615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02446" y="1416471"/>
            <a:ext cx="13196452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TESTS A/B - IMPACT BUSINESS</a:t>
            </a:r>
          </a:p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Projection financière  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07807" y="-7471697"/>
            <a:ext cx="3308496" cy="18251890"/>
            <a:chOff x="0" y="0"/>
            <a:chExt cx="871373" cy="480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1373" cy="4807082"/>
            </a:xfrm>
            <a:custGeom>
              <a:avLst/>
              <a:gdLst/>
              <a:ahLst/>
              <a:cxnLst/>
              <a:rect r="r" b="b" t="t" l="l"/>
              <a:pathLst>
                <a:path h="4807082" w="871373">
                  <a:moveTo>
                    <a:pt x="0" y="0"/>
                  </a:moveTo>
                  <a:lnTo>
                    <a:pt x="871373" y="0"/>
                  </a:lnTo>
                  <a:lnTo>
                    <a:pt x="871373" y="4807082"/>
                  </a:lnTo>
                  <a:lnTo>
                    <a:pt x="0" y="4807082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1373" cy="484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727452"/>
            <a:ext cx="13908870" cy="352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 d'action 6 mois :</a:t>
            </a:r>
          </a:p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Mois 1-2 : Checkout simplifié </a:t>
            </a: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7K€ → +4K€/mois</a:t>
            </a:r>
          </a:p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Mois</a:t>
            </a: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2-4 : 100 fiches produits 12K€ → +1,2K€/mois</a:t>
            </a:r>
          </a:p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Mois 4-6 : Pop-ups + email 3K€ → +1,6K€/mois</a:t>
            </a:r>
          </a:p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 : +6,8K€/mois récurrents</a:t>
            </a:r>
          </a:p>
          <a:p>
            <a:pPr algn="just">
              <a:lnSpc>
                <a:spcPts val="468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41118" y="659130"/>
            <a:ext cx="1319645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RECOMMANDATIONS</a:t>
            </a: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- ROADMAP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07807" y="-7471697"/>
            <a:ext cx="3308496" cy="18251890"/>
            <a:chOff x="0" y="0"/>
            <a:chExt cx="871373" cy="480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1373" cy="4807082"/>
            </a:xfrm>
            <a:custGeom>
              <a:avLst/>
              <a:gdLst/>
              <a:ahLst/>
              <a:cxnLst/>
              <a:rect r="r" b="b" t="t" l="l"/>
              <a:pathLst>
                <a:path h="4807082" w="871373">
                  <a:moveTo>
                    <a:pt x="0" y="0"/>
                  </a:moveTo>
                  <a:lnTo>
                    <a:pt x="871373" y="0"/>
                  </a:lnTo>
                  <a:lnTo>
                    <a:pt x="871373" y="4807082"/>
                  </a:lnTo>
                  <a:lnTo>
                    <a:pt x="0" y="4807082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1373" cy="484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0276" y="4176874"/>
            <a:ext cx="17473137" cy="411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 3 actions immédiates :</a:t>
            </a:r>
          </a:p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🥇 Ch</a:t>
            </a: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eckout simplifié ROI &lt; 2 semaines | Déploiement immédiat</a:t>
            </a:r>
          </a:p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🥈 </a:t>
            </a: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67 produits prioritaires ROI 2 mois | Quick wins</a:t>
            </a:r>
          </a:p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🥉 Engagement visiteurs ROI immédiat | Base email 50K</a:t>
            </a:r>
          </a:p>
          <a:p>
            <a:pPr algn="just">
              <a:lnSpc>
                <a:spcPts val="4681"/>
              </a:lnSpc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Facteurs clés de succès : → Déploiement progressif → Monitoring continu → Culture test &amp; learn</a:t>
            </a:r>
          </a:p>
          <a:p>
            <a:pPr algn="just">
              <a:lnSpc>
                <a:spcPts val="468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545774" y="588156"/>
            <a:ext cx="1319645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RECOMMANDATIONS</a:t>
            </a: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- PRIORITÉS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029407" y="-7993297"/>
            <a:ext cx="2265296" cy="18251890"/>
            <a:chOff x="0" y="0"/>
            <a:chExt cx="596621" cy="480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621" cy="4807082"/>
            </a:xfrm>
            <a:custGeom>
              <a:avLst/>
              <a:gdLst/>
              <a:ahLst/>
              <a:cxnLst/>
              <a:rect r="r" b="b" t="t" l="l"/>
              <a:pathLst>
                <a:path h="4807082" w="596621">
                  <a:moveTo>
                    <a:pt x="0" y="0"/>
                  </a:moveTo>
                  <a:lnTo>
                    <a:pt x="596621" y="0"/>
                  </a:lnTo>
                  <a:lnTo>
                    <a:pt x="596621" y="4807082"/>
                  </a:lnTo>
                  <a:lnTo>
                    <a:pt x="0" y="4807082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6621" cy="484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3582" y="2971975"/>
            <a:ext cx="17396946" cy="661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 qui a été</a:t>
            </a: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démontré :</a:t>
            </a:r>
          </a:p>
          <a:p>
            <a:pPr algn="just" marL="624163" indent="-312082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2,7M événements analysés avec rigueur</a:t>
            </a:r>
          </a:p>
          <a:p>
            <a:pPr algn="just" marL="624163" indent="-312082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 tests statistiquement significatifs (p&lt;0,0001)</a:t>
            </a:r>
          </a:p>
          <a:p>
            <a:pPr algn="just" marL="624163" indent="-312082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250K€ de potentiel annuel</a:t>
            </a: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identifié</a:t>
            </a:r>
          </a:p>
          <a:p>
            <a:pPr algn="just" marL="624163" indent="-312082" lvl="1">
              <a:lnSpc>
                <a:spcPts val="4047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ROI</a:t>
            </a: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327% dès la première année</a:t>
            </a:r>
          </a:p>
          <a:p>
            <a:pPr algn="just"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Prochaines étapes :</a:t>
            </a:r>
          </a:p>
          <a:p>
            <a:pPr algn="just" marL="624163" indent="-312082" lvl="1">
              <a:lnSpc>
                <a:spcPts val="4047"/>
              </a:lnSpc>
              <a:buAutoNum type="arabicPeriod" startAt="1"/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Validation projet par comité de direction</a:t>
            </a:r>
          </a:p>
          <a:p>
            <a:pPr algn="just" marL="624163" indent="-312082" lvl="1">
              <a:lnSpc>
                <a:spcPts val="4047"/>
              </a:lnSpc>
              <a:buAutoNum type="arabicPeriod" startAt="1"/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Lancement Phase 1 (Checkout) </a:t>
            </a:r>
          </a:p>
          <a:p>
            <a:pPr algn="just" marL="624163" indent="-312082" lvl="1">
              <a:lnSpc>
                <a:spcPts val="4047"/>
              </a:lnSpc>
              <a:buAutoNum type="arabicPeriod" startAt="1"/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Mise en place KPIs de suivi hebdomadaire</a:t>
            </a:r>
          </a:p>
          <a:p>
            <a:pPr algn="just" marL="624163" indent="-312082" lvl="1">
              <a:lnSpc>
                <a:spcPts val="4047"/>
              </a:lnSpc>
              <a:buAutoNum type="arabicPeriod" startAt="1"/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Revues mensuelles des performances</a:t>
            </a:r>
          </a:p>
          <a:p>
            <a:pPr algn="just">
              <a:lnSpc>
                <a:spcPts val="4047"/>
              </a:lnSpc>
            </a:pPr>
            <a:r>
              <a:rPr lang="en-US" sz="28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Facteurs clés de succès : → Déploiement progressif (limiter les risques) → Monitoring continu des métriques → Culture de l'expérimentation</a:t>
            </a:r>
          </a:p>
          <a:p>
            <a:pPr algn="just">
              <a:lnSpc>
                <a:spcPts val="404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545774" y="588156"/>
            <a:ext cx="13196452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CONCLUSION &amp;</a:t>
            </a: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PERSPECTIVES</a:t>
            </a:r>
          </a:p>
          <a:p>
            <a:pPr algn="ctr">
              <a:lnSpc>
                <a:spcPts val="54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DAG_yAJjR9w</dc:identifier>
  <dcterms:modified xsi:type="dcterms:W3CDTF">2011-08-01T06:04:30Z</dcterms:modified>
  <cp:revision>1</cp:revision>
  <dc:title>Présentation professionnelle stratégie digitale moderne minimaliste vert noir</dc:title>
</cp:coreProperties>
</file>